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848356" y="152400"/>
            <a:ext cx="3810000" cy="3810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552495" y="1047750"/>
            <a:ext cx="4762500" cy="4762500"/>
          </a:xfrm>
          <a:prstGeom prst="ellipse">
            <a:avLst/>
          </a:prstGeom>
          <a:solidFill>
            <a:srgbClr val="FF6A2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6A2A"/>
                </a:solidFill>
                <a:latin typeface="Plus Jakarta Sans"/>
              </a:rPr>
              <a:t>● ● 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Urbanist"/>
              </a:rPr>
              <a:t>El </a:t>
            </a:r>
            <a:r>
              <a:rPr sz="5400" b="1" i="0">
                <a:solidFill>
                  <a:srgbClr val="FF6A2A"/>
                </a:solidFill>
                <a:latin typeface="Urbanist"/>
              </a:rPr>
              <a:t>Amplificador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Urbanist"/>
              </a:rPr>
              <a:t>Cognitivo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C0C0D0"/>
                </a:solidFill>
                <a:latin typeface="Plus Jakarta Sans"/>
              </a:rPr>
              <a:t>Cómo usar IA para estudiar, investigar y documentar mejor.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6A2A"/>
                </a:solidFill>
                <a:latin typeface="Plus Jakarta Sans"/>
              </a:rPr>
              <a:t>—  </a:t>
            </a:r>
            <a:r>
              <a:rPr sz="1600" b="1" i="0" spc="200">
                <a:solidFill>
                  <a:srgbClr val="FF6A2A"/>
                </a:solidFill>
                <a:latin typeface="Plus Jakarta Sans"/>
              </a:rPr>
              <a:t>MAURICIO MEDINA</a:t>
            </a:r>
          </a:p>
        </p:txBody>
      </p:sp>
      <p:pic>
        <p:nvPicPr>
          <p:cNvPr id="8" name="Picture 7" descr="f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63040"/>
            <a:ext cx="2926080" cy="4395622"/>
          </a:xfrm>
          <a:prstGeom prst="rect">
            <a:avLst/>
          </a:prstGeom>
          <a:prstGeom prst="roundRect">
            <a:avLst>
              <a:gd name="adj" fmla="val 8000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 spc="200">
                <a:solidFill>
                  <a:srgbClr val="B0B0C0"/>
                </a:solidFill>
                <a:latin typeface="Plus Jakarta Sans"/>
              </a:rPr>
              <a:t>USA LAS FLECHAS PARA NAVEGAR  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22" presetClass="entr" presetSubtype="4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" dur="10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2" presetClass="entr" presetSubtype="2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Right)">
                                <p:cBhvr>
                                  <p:cTn id="25" dur="9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15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38347" y="571500"/>
            <a:ext cx="5715000" cy="5715000"/>
          </a:xfrm>
          <a:prstGeom prst="ellipse">
            <a:avLst/>
          </a:prstGeom>
          <a:solidFill>
            <a:srgbClr val="FF6A2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0" i="0">
                <a:solidFill>
                  <a:srgbClr val="FF6A2A"/>
                </a:solidFill>
                <a:latin typeface="Plus Jakarta Sans"/>
              </a:rPr>
              <a:t>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Urbanist"/>
              </a:rPr>
              <a:t>¿Quién está estudiando algo </a:t>
            </a:r>
            <a:r>
              <a:rPr sz="4600" b="1" i="0">
                <a:solidFill>
                  <a:srgbClr val="FF6A2A"/>
                </a:solidFill>
                <a:latin typeface="Urbanist"/>
              </a:rPr>
              <a:t>en este momento</a:t>
            </a:r>
            <a:r>
              <a:rPr sz="4600" b="1" i="0">
                <a:solidFill>
                  <a:srgbClr val="FFFFFF"/>
                </a:solidFill>
                <a:latin typeface="Urbanist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0">
                <a:solidFill>
                  <a:srgbClr val="C0C0D0"/>
                </a:solidFill>
                <a:latin typeface="Plus Jakarta Sans"/>
              </a:rPr>
              <a:t>Carrera, curso, o por su propia cuenta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FFB800"/>
                </a:solidFill>
                <a:latin typeface="Plus Jakarta Sans"/>
              </a:rPr>
              <a:t>Carrera</a:t>
            </a:r>
            <a:r>
              <a:rPr sz="2000" b="0" i="0">
                <a:solidFill>
                  <a:srgbClr val="8A8A9A"/>
                </a:solidFill>
                <a:latin typeface="Plus Jakarta Sans"/>
              </a:rPr>
              <a:t>   /   </a:t>
            </a:r>
            <a:r>
              <a:rPr sz="2000" b="0" i="0">
                <a:solidFill>
                  <a:srgbClr val="FFB800"/>
                </a:solidFill>
                <a:latin typeface="Plus Jakarta Sans"/>
              </a:rPr>
              <a:t>Curso</a:t>
            </a:r>
            <a:r>
              <a:rPr sz="2000" b="0" i="0">
                <a:solidFill>
                  <a:srgbClr val="8A8A9A"/>
                </a:solidFill>
                <a:latin typeface="Plus Jakarta Sans"/>
              </a:rPr>
              <a:t>   /   </a:t>
            </a:r>
            <a:r>
              <a:rPr sz="2000" b="0" i="0">
                <a:solidFill>
                  <a:srgbClr val="FFB800"/>
                </a:solidFill>
                <a:latin typeface="Plus Jakarta Sans"/>
              </a:rPr>
              <a:t>Autodidacta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22" presetClass="entr" presetSubtype="4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238771" y="2209800"/>
            <a:ext cx="3810000" cy="3810000"/>
          </a:xfrm>
          <a:prstGeom prst="ellipse">
            <a:avLst/>
          </a:prstGeom>
          <a:solidFill>
            <a:srgbClr val="FF6A2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666673" y="361950"/>
            <a:ext cx="4762500" cy="47625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52647" y="10058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spc="250">
                <a:solidFill>
                  <a:srgbClr val="FF6A2A"/>
                </a:solidFill>
                <a:latin typeface="Plus Jakarta Sans"/>
              </a:rPr>
              <a:t>◆  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Urbanist"/>
              </a:rPr>
              <a:t>La importancia del </a:t>
            </a:r>
            <a:r>
              <a:rPr sz="4600" b="1" i="0">
                <a:solidFill>
                  <a:srgbClr val="FF6A2A"/>
                </a:solidFill>
                <a:latin typeface="Urbanist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0">
                <a:solidFill>
                  <a:srgbClr val="C0C0D0"/>
                </a:solidFill>
                <a:latin typeface="Plus Jakarta Sans"/>
              </a:rPr>
              <a:t>Acá todos vamos a usar IA, pero busquemos entender lo que estamos haciendo con ella.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FB800"/>
                </a:solidFill>
                <a:latin typeface="Plus Jakarta Sans"/>
              </a:rPr>
              <a:t>La IA va a trabajar bajo el contexto que le podamos dar.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22" presetClass="entr" presetSubtype="4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" dur="10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10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14597" y="361950"/>
            <a:ext cx="4762500" cy="47625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i="0">
                <a:solidFill>
                  <a:srgbClr val="FFFFFF"/>
                </a:solidFill>
                <a:latin typeface="Urbanist"/>
              </a:rPr>
              <a:t>NotebookLM como nuestro </a:t>
            </a:r>
            <a:r>
              <a:rPr sz="4200" b="1" i="0">
                <a:solidFill>
                  <a:srgbClr val="FF6A2A"/>
                </a:solidFill>
                <a:latin typeface="Urbanist"/>
              </a:rPr>
              <a:t>segundo cerebro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C0C0D0"/>
                </a:solidFill>
                <a:latin typeface="Plus Jakarta Sans"/>
              </a:rPr>
              <a:t>En esta IA podemos meter cientos de libros, videos e imágenes y lo va a guardar en su contexto.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9718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0" i="0">
                <a:solidFill>
                  <a:srgbClr val="FF6A2A"/>
                </a:solidFill>
                <a:latin typeface="Plus Jakarta Sans"/>
              </a:rPr>
              <a:t>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30632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Plus Jakarta Sans"/>
              </a:rPr>
              <a:t>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6916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Plus Jakarta Sans"/>
              </a:rPr>
              <a:t>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30632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Plus Jakarta Sans"/>
              </a:rPr>
              <a:t>🖼️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44348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Plus Jakarta Sans"/>
              </a:rPr>
              <a:t>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22" presetClass="entr" presetSubtype="4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" dur="10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84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38347" y="571500"/>
            <a:ext cx="5715000" cy="5715000"/>
          </a:xfrm>
          <a:prstGeom prst="ellipse">
            <a:avLst/>
          </a:prstGeom>
          <a:solidFill>
            <a:srgbClr val="FF3B3B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62447" y="640080"/>
            <a:ext cx="1066800" cy="1066800"/>
          </a:xfrm>
          <a:prstGeom prst="ellipse">
            <a:avLst/>
          </a:prstGeom>
          <a:solidFill>
            <a:srgbClr val="FF3B3B">
              <a:alpha val="8000"/>
            </a:srgbClr>
          </a:solidFill>
          <a:ln w="19050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62447" y="777240"/>
            <a:ext cx="10668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FF3B3B"/>
                </a:solidFill>
                <a:latin typeface="Plus Jakarta Sans"/>
              </a:rP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647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spc="250">
                <a:solidFill>
                  <a:srgbClr val="FF3B3B"/>
                </a:solidFill>
                <a:latin typeface="Plus Jakarta Sans"/>
              </a:rPr>
              <a:t>CONCEPTO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0" b="1" i="0" spc="50">
                <a:solidFill>
                  <a:srgbClr val="FFFFFF"/>
                </a:solidFill>
                <a:latin typeface="Urbanist"/>
              </a:rPr>
              <a:t>ALUCINACIÓN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77639"/>
            <a:ext cx="8503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0">
                <a:solidFill>
                  <a:srgbClr val="C0C0D0"/>
                </a:solidFill>
                <a:latin typeface="Plus Jakarta Sans"/>
              </a:rPr>
              <a:t>Cuando la IA inventa información y te la dice con tanta seguridad que parece verdad.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21208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1">
                <a:solidFill>
                  <a:srgbClr val="CCCCCC"/>
                </a:solidFill>
                <a:latin typeface="Plus Jakarta Sans"/>
              </a:rPr>
              <a:t>La IA no sabe que no sabe. Por eso miente con buena gramática.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2" presetClass="entr" presetSubtype="8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10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8457940" y="2895600"/>
            <a:ext cx="3810000" cy="3810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76245" y="152400"/>
            <a:ext cx="3810000" cy="3810000"/>
          </a:xfrm>
          <a:prstGeom prst="ellipse">
            <a:avLst/>
          </a:prstGeom>
          <a:solidFill>
            <a:srgbClr val="FF6A2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Urbanist"/>
              </a:rPr>
              <a:t>¿Cuánto miente la IA que usás todos los días?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BBBBB"/>
                </a:solidFill>
                <a:latin typeface="Plus Jakarta Sans"/>
              </a:rPr>
              <a:t>Tasa de alucinación en alta complejidad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822960"/>
          </a:xfrm>
          <a:prstGeom prst="roundRect">
            <a:avLst/>
          </a:prstGeom>
          <a:solidFill>
            <a:srgbClr val="11111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7568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Claude (Anthropic)</a:t>
            </a:r>
          </a:p>
          <a:p>
            <a:pPr algn="l"/>
            <a:r>
              <a:rPr sz="1300" b="0" i="0">
                <a:solidFill>
                  <a:srgbClr val="BBBBBB"/>
                </a:solidFill>
                <a:latin typeface="Plus Jakarta Sans"/>
              </a:rPr>
              <a:t>3.7 Sonnet / Opus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258568"/>
            <a:ext cx="5120640" cy="237744"/>
          </a:xfrm>
          <a:prstGeom prst="round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2258568"/>
            <a:ext cx="2368296" cy="237744"/>
          </a:xfrm>
          <a:prstGeom prst="roundRect">
            <a:avLst/>
          </a:prstGeom>
          <a:solidFill>
            <a:srgbClr val="FF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0" y="21671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CCCCCC"/>
                </a:solidFill>
                <a:latin typeface="JetBrains Mono"/>
              </a:rPr>
              <a:t>15% – 22%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822960"/>
          </a:xfrm>
          <a:prstGeom prst="roundRect">
            <a:avLst/>
          </a:prstGeom>
          <a:solidFill>
            <a:srgbClr val="11111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ChatGPT (OpenAI)</a:t>
            </a:r>
          </a:p>
          <a:p>
            <a:pPr algn="l"/>
            <a:r>
              <a:rPr sz="1300" b="0" i="0">
                <a:solidFill>
                  <a:srgbClr val="BBBBBB"/>
                </a:solidFill>
                <a:latin typeface="Plus Jakarta Sans"/>
              </a:rPr>
              <a:t>GPT-4.1 / 4o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218688"/>
            <a:ext cx="5120640" cy="237744"/>
          </a:xfrm>
          <a:prstGeom prst="round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0" y="3218688"/>
            <a:ext cx="2752344" cy="237744"/>
          </a:xfrm>
          <a:prstGeom prst="round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312724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CCCCCC"/>
                </a:solidFill>
                <a:latin typeface="JetBrains Mono"/>
              </a:rPr>
              <a:t>18% – 25%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10698480" cy="822960"/>
          </a:xfrm>
          <a:prstGeom prst="roundRect">
            <a:avLst/>
          </a:prstGeom>
          <a:solidFill>
            <a:srgbClr val="11111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9592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Gemini (Google)</a:t>
            </a:r>
          </a:p>
          <a:p>
            <a:pPr algn="l"/>
            <a:r>
              <a:rPr sz="1300" b="0" i="0">
                <a:solidFill>
                  <a:srgbClr val="BBBBBB"/>
                </a:solidFill>
                <a:latin typeface="Plus Jakarta Sans"/>
              </a:rPr>
              <a:t>2.0 Pro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178808"/>
            <a:ext cx="5120640" cy="237744"/>
          </a:xfrm>
          <a:prstGeom prst="round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0" y="4178808"/>
            <a:ext cx="3072384" cy="237744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408736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CCCCCC"/>
                </a:solidFill>
                <a:latin typeface="JetBrains Mono"/>
              </a:rPr>
              <a:t>20% – 28%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698480" cy="822960"/>
          </a:xfrm>
          <a:prstGeom prst="roundRect">
            <a:avLst/>
          </a:prstGeom>
          <a:solidFill>
            <a:srgbClr val="111118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56048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Plus Jakarta Sans"/>
              </a:rPr>
              <a:t>DeepSeek</a:t>
            </a:r>
          </a:p>
          <a:p>
            <a:pPr algn="l"/>
            <a:r>
              <a:rPr sz="1300" b="0" i="0">
                <a:solidFill>
                  <a:srgbClr val="BBBBBB"/>
                </a:solidFill>
                <a:latin typeface="Plus Jakarta Sans"/>
              </a:rPr>
              <a:t>V3 / R1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5138928"/>
            <a:ext cx="5120640" cy="237744"/>
          </a:xfrm>
          <a:prstGeom prst="roundRect">
            <a:avLst/>
          </a:prstGeom>
          <a:solidFill>
            <a:srgbClr val="0A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14800" y="5138928"/>
            <a:ext cx="3584448" cy="237744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504748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>
                <a:solidFill>
                  <a:srgbClr val="CCCCCC"/>
                </a:solidFill>
                <a:latin typeface="JetBrains Mono"/>
              </a:rPr>
              <a:t>24% – 32%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BBBBB"/>
                </a:solidFill>
                <a:latin typeface="Plus Jakarta Sans"/>
              </a:rPr>
              <a:t>Ninguna está libre. La pregunta no es si se equivoca, es cuánto.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22" presetClass="entr" presetSubtype="4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" dur="9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7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7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grpId="0" nodeType="with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7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7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grpId="0" nodeType="withEffect">
                            <p:stCondLst>
                              <p:cond delay="899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7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7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14597" y="361950"/>
            <a:ext cx="4762500" cy="4762500"/>
          </a:xfrm>
          <a:prstGeom prst="ellipse">
            <a:avLst/>
          </a:prstGeom>
          <a:solidFill>
            <a:srgbClr val="FF3B3B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352647" y="7315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spc="250">
                <a:solidFill>
                  <a:srgbClr val="FF3B3B"/>
                </a:solidFill>
                <a:latin typeface="Plus Jakarta Sans"/>
              </a:rPr>
              <a:t>△  EL PROBLEMA ES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  <a:latin typeface="Urbanist"/>
              </a:rPr>
              <a:t>22%</a:t>
            </a:r>
            <a:r>
              <a:rPr sz="4400" b="0" i="0">
                <a:solidFill>
                  <a:srgbClr val="5A5A6A"/>
                </a:solidFill>
                <a:latin typeface="Plus Jakarta Sans"/>
              </a:rPr>
              <a:t>   —   </a:t>
            </a:r>
            <a:r>
              <a:rPr sz="9000" b="1" i="0">
                <a:solidFill>
                  <a:srgbClr val="FF6A2A"/>
                </a:solidFill>
                <a:latin typeface="Urbanist"/>
              </a:rPr>
              <a:t>94%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6324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C0C0D0"/>
                </a:solidFill>
                <a:latin typeface="Plus Jakarta Sans"/>
              </a:rPr>
              <a:t>Tasa de alucinación en los 26 modelos más usados del mundo en tareas exigentes.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6908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 spc="150">
                <a:solidFill>
                  <a:srgbClr val="FF6A2A"/>
                </a:solidFill>
                <a:latin typeface="JetBrains Mono"/>
              </a:rPr>
              <a:t>Stanford AI Index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754880"/>
            <a:ext cx="6675120" cy="1417320"/>
          </a:xfrm>
          <a:prstGeom prst="roundRect">
            <a:avLst/>
          </a:prstGeom>
          <a:solidFill>
            <a:srgbClr val="111118">
              <a:alpha val="35000"/>
            </a:srgbClr>
          </a:solidFill>
          <a:ln w="15875">
            <a:solidFill>
              <a:srgbClr val="FF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4983480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lus Jakarta Sans"/>
              </a:rPr>
              <a:t>+362</a:t>
            </a:r>
            <a:r>
              <a:rPr sz="1800" b="0" i="0">
                <a:solidFill>
                  <a:srgbClr val="CCCCCC"/>
                </a:solidFill>
                <a:latin typeface="Plus Jakarta Sans"/>
              </a:rPr>
              <a:t>  incidentes documentados de IA en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62356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FB800"/>
                </a:solidFill>
                <a:latin typeface="Plus Jakarta Sans"/>
              </a:rPr>
              <a:t>55% más que en 2024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10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38347" y="571500"/>
            <a:ext cx="5715000" cy="5715000"/>
          </a:xfrm>
          <a:prstGeom prst="ellipse">
            <a:avLst/>
          </a:prstGeom>
          <a:solidFill>
            <a:srgbClr val="FFB800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352647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 spc="250">
                <a:solidFill>
                  <a:srgbClr val="FFB800"/>
                </a:solidFill>
                <a:latin typeface="Plus Jakarta Sans"/>
              </a:rPr>
              <a:t>▦  CONCEPTO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800" b="1" i="0" spc="100">
                <a:solidFill>
                  <a:srgbClr val="FFFFFF"/>
                </a:solidFill>
                <a:latin typeface="Urbanist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63240"/>
            <a:ext cx="8503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i="0">
                <a:solidFill>
                  <a:srgbClr val="C0C0D0"/>
                </a:solidFill>
                <a:latin typeface="Plus Jakarta Sans"/>
              </a:rPr>
              <a:t>Todo lo que la IA tiene a mano para responderte en ese momento.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3B3B"/>
                </a:solidFill>
                <a:latin typeface="Plus Jakarta Sans"/>
              </a:rPr>
              <a:t>Sin contexto</a:t>
            </a:r>
          </a:p>
          <a:p>
            <a:pPr algn="ctr"/>
            <a:r>
              <a:rPr sz="1700" b="0" i="0">
                <a:solidFill>
                  <a:srgbClr val="CCCCCC"/>
                </a:solidFill>
                <a:latin typeface="Plus Jakarta Sans"/>
              </a:rPr>
              <a:t>la IA adivina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8006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999999"/>
                </a:solidFill>
                <a:latin typeface="Plus Jakarta San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57200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B800"/>
                </a:solidFill>
                <a:latin typeface="Plus Jakarta Sans"/>
              </a:rPr>
              <a:t>Con contexto</a:t>
            </a:r>
          </a:p>
          <a:p>
            <a:pPr algn="ctr"/>
            <a:r>
              <a:rPr sz="1700" b="0" i="0">
                <a:solidFill>
                  <a:srgbClr val="CCCCCC"/>
                </a:solidFill>
                <a:latin typeface="Plus Jakarta Sans"/>
              </a:rPr>
              <a:t>la IA razona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2" presetClass="entr" presetSubtype="8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16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7238771" y="838200"/>
            <a:ext cx="3810000" cy="3810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1142923" y="2209800"/>
            <a:ext cx="3810000" cy="3810000"/>
          </a:xfrm>
          <a:prstGeom prst="ellipse">
            <a:avLst/>
          </a:prstGeom>
          <a:solidFill>
            <a:srgbClr val="FF6A2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914400"/>
            <a:ext cx="8503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 i="0">
                <a:solidFill>
                  <a:srgbClr val="C0C0D0"/>
                </a:solidFill>
                <a:latin typeface="Plus Jakarta Sans"/>
              </a:rPr>
              <a:t>Si tu profe te da 3 libros con todas las respuestas...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5600" b="0" i="0">
                <a:solidFill>
                  <a:srgbClr val="FF6A2A"/>
                </a:solidFill>
                <a:latin typeface="Plus Jakarta Sans"/>
              </a:rPr>
              <a:t>📚</a:t>
            </a:r>
          </a:p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6A2A"/>
                </a:solidFill>
                <a:latin typeface="Plus Jakarta Sans"/>
              </a:rPr>
              <a:t>¿Vas a la biblioteca entera?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566160"/>
            <a:ext cx="1188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CCCCCC"/>
                </a:solidFill>
                <a:latin typeface="Plus Jakarta Sans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926080"/>
            <a:ext cx="3474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5600" b="0" i="0">
                <a:solidFill>
                  <a:srgbClr val="FFB800"/>
                </a:solidFill>
                <a:latin typeface="Plus Jakarta Sans"/>
              </a:rPr>
              <a:t>🔖</a:t>
            </a:r>
          </a:p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B800"/>
                </a:solidFill>
                <a:latin typeface="Plus Jakarta Sans"/>
              </a:rPr>
              <a:t>¿O te quedás con esos 3?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14597" y="361950"/>
            <a:ext cx="4762500" cy="4762500"/>
          </a:xfrm>
          <a:prstGeom prst="ellipse">
            <a:avLst/>
          </a:prstGeom>
          <a:solidFill>
            <a:srgbClr val="FF6A2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C0C0D0"/>
                </a:solidFill>
                <a:latin typeface="Plus Jakarta Sans"/>
              </a:rPr>
              <a:t>Las alucinaciones no se eliminan por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0" i="0">
                <a:solidFill>
                  <a:srgbClr val="FF6A2A"/>
                </a:solidFill>
                <a:latin typeface="Plus Jakarta Sans"/>
              </a:rPr>
              <a:t>↘  </a:t>
            </a:r>
            <a:r>
              <a:rPr sz="8000" b="1" i="0">
                <a:solidFill>
                  <a:srgbClr val="FF6A2A"/>
                </a:solidFill>
                <a:latin typeface="Urbanist"/>
              </a:rPr>
              <a:t>67%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lus Jakarta Sans"/>
              </a:rPr>
              <a:t>de reducción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206240"/>
            <a:ext cx="4846320" cy="146304"/>
          </a:xfrm>
          <a:prstGeom prst="roundRect">
            <a:avLst/>
          </a:prstGeom>
          <a:solidFill>
            <a:srgbClr val="11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4206240"/>
            <a:ext cx="1599285" cy="146304"/>
          </a:xfrm>
          <a:prstGeom prst="roundRect">
            <a:avLst/>
          </a:prstGeom>
          <a:solidFill>
            <a:srgbClr val="FF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4348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Plus Jakarta Sans"/>
              </a:rPr>
              <a:t>Sin NotebookLM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4348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  <a:latin typeface="Plus Jakarta Sans"/>
              </a:rPr>
              <a:t>Con NotebookLM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212080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CCCCCC"/>
                </a:solidFill>
                <a:latin typeface="Plus Jakarta Sans"/>
              </a:rPr>
              <a:t>Pueden pensar que no se le tiene que dar importancia, pero el día de mañana ese porcentaje de error puede costar muy caro...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10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14597" y="1047750"/>
            <a:ext cx="4762500" cy="47625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0" i="0">
                <a:solidFill>
                  <a:srgbClr val="FFB800"/>
                </a:solidFill>
                <a:latin typeface="Plus Jakarta Sans"/>
              </a:rPr>
              <a:t>🖥️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200" b="1" i="0">
                <a:solidFill>
                  <a:srgbClr val="FFFFFF"/>
                </a:solidFill>
                <a:latin typeface="Urbanist"/>
              </a:rPr>
              <a:t>Abramos </a:t>
            </a:r>
            <a:r>
              <a:rPr sz="4200" b="1" i="0">
                <a:solidFill>
                  <a:srgbClr val="FF6A2A"/>
                </a:solidFill>
                <a:latin typeface="Urbanist"/>
              </a:rPr>
              <a:t>NotebookLM</a:t>
            </a:r>
            <a:r>
              <a:rPr sz="4200" b="1" i="0">
                <a:solidFill>
                  <a:srgbClr val="FFFFFF"/>
                </a:solidFill>
                <a:latin typeface="Urbanist"/>
              </a:rPr>
              <a:t> y nuestro notepad preferido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C0C0D0"/>
                </a:solidFill>
                <a:latin typeface="Plus Jakarta Sans"/>
              </a:rPr>
              <a:t>Puede ser Notion, Google Docs o Obsidian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2976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lus Jakarta Sans"/>
              </a:rPr>
              <a:t>✎  Notion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42976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lus Jakarta Sans"/>
              </a:rPr>
              <a:t>⌘  Google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2976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lus Jakarta Sans"/>
              </a:rPr>
              <a:t>✦  Obsidian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BBBBBB"/>
                </a:solidFill>
                <a:latin typeface="Plus Jakarta Sans"/>
              </a:rPr>
              <a:t>Lo más importante es que interprete archivos Markdown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22" presetClass="entr" presetSubtype="4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124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62097" y="95250"/>
            <a:ext cx="6667500" cy="6667500"/>
          </a:xfrm>
          <a:prstGeom prst="ellipse">
            <a:avLst/>
          </a:prstGeom>
          <a:solidFill>
            <a:srgbClr val="FF6A2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Urbanist"/>
              </a:rPr>
              <a:t>PREGUNTAR</a:t>
            </a:r>
          </a:p>
          <a:p>
            <a:pPr algn="ctr">
              <a:lnSpc>
                <a:spcPct val="105000"/>
              </a:lnSpc>
            </a:pPr>
            <a:r>
              <a:rPr sz="6400" b="1" i="0">
                <a:solidFill>
                  <a:srgbClr val="FF6A2A"/>
                </a:solidFill>
                <a:latin typeface="Urbanist"/>
              </a:rPr>
              <a:t>ABSOLUTAMENTE</a:t>
            </a:r>
          </a:p>
          <a:p>
            <a:pPr algn="ctr">
              <a:lnSpc>
                <a:spcPct val="105000"/>
              </a:lnSpc>
            </a:pPr>
            <a:r>
              <a:rPr sz="6400" b="1" i="0">
                <a:solidFill>
                  <a:srgbClr val="FFFFFF"/>
                </a:solidFill>
                <a:latin typeface="Urbanist"/>
              </a:rPr>
              <a:t>TODO.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4247" y="4480560"/>
            <a:ext cx="2743200" cy="25400"/>
          </a:xfrm>
          <a:prstGeom prst="roundRect">
            <a:avLst/>
          </a:prstGeom>
          <a:solidFill>
            <a:srgbClr val="FF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C0C0D0"/>
                </a:solidFill>
                <a:latin typeface="Urbanist"/>
              </a:rPr>
              <a:t>NO DEJAR UNA SOLA DUDA.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2" presetClass="entr" presetSubtype="8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9067525" y="2895600"/>
            <a:ext cx="3810000" cy="3810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-685830" y="152400"/>
            <a:ext cx="3810000" cy="3810000"/>
          </a:xfrm>
          <a:prstGeom prst="ellipse">
            <a:avLst/>
          </a:prstGeom>
          <a:solidFill>
            <a:srgbClr val="FF6A2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Urbanist"/>
              </a:rPr>
              <a:t>EL </a:t>
            </a:r>
            <a:r>
              <a:rPr sz="5600" b="1" i="0">
                <a:solidFill>
                  <a:srgbClr val="FF6A2A"/>
                </a:solidFill>
                <a:latin typeface="Urbanist"/>
              </a:rPr>
              <a:t>FLUJO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92024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A2A"/>
                </a:solidFill>
                <a:latin typeface="JetBrains Mono"/>
              </a:rPr>
              <a:t>1.  </a:t>
            </a:r>
            <a:r>
              <a:rPr sz="1800" b="0" i="0">
                <a:solidFill>
                  <a:srgbClr val="FF6A2A"/>
                </a:solidFill>
                <a:latin typeface="Plus Jakarta Sans"/>
              </a:rPr>
              <a:t>⬆   </a:t>
            </a:r>
            <a:r>
              <a:rPr sz="2000" b="0" i="0">
                <a:solidFill>
                  <a:srgbClr val="DDDDDD"/>
                </a:solidFill>
                <a:latin typeface="Plus Jakarta Sans"/>
              </a:rPr>
              <a:t>Cargo las fuentes en NotebookLM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487168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A2A"/>
                </a:solidFill>
                <a:latin typeface="JetBrains Mono"/>
              </a:rPr>
              <a:t>2.  </a:t>
            </a:r>
            <a:r>
              <a:rPr sz="1800" b="0" i="0">
                <a:solidFill>
                  <a:srgbClr val="FF6A2A"/>
                </a:solidFill>
                <a:latin typeface="Plus Jakarta Sans"/>
              </a:rPr>
              <a:t>?   </a:t>
            </a:r>
            <a:r>
              <a:rPr sz="2000" b="0" i="0">
                <a:solidFill>
                  <a:srgbClr val="DDDDDD"/>
                </a:solidFill>
                <a:latin typeface="Plus Jakarta Sans"/>
              </a:rPr>
              <a:t>Pregunto TODO lo que no entiendo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054096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A2A"/>
                </a:solidFill>
                <a:latin typeface="JetBrains Mono"/>
              </a:rPr>
              <a:t>3.  </a:t>
            </a:r>
            <a:r>
              <a:rPr sz="1800" b="0" i="0">
                <a:solidFill>
                  <a:srgbClr val="FF6A2A"/>
                </a:solidFill>
                <a:latin typeface="Plus Jakarta Sans"/>
              </a:rPr>
              <a:t>✎   </a:t>
            </a:r>
            <a:r>
              <a:rPr sz="2000" b="0" i="0">
                <a:solidFill>
                  <a:srgbClr val="DDDDDD"/>
                </a:solidFill>
                <a:latin typeface="Plus Jakarta Sans"/>
              </a:rPr>
              <a:t>Anoto con mis palabras en Obsidian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621024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A2A"/>
                </a:solidFill>
                <a:latin typeface="JetBrains Mono"/>
              </a:rPr>
              <a:t>4.  </a:t>
            </a:r>
            <a:r>
              <a:rPr sz="1800" b="0" i="0">
                <a:solidFill>
                  <a:srgbClr val="FF6A2A"/>
                </a:solidFill>
                <a:latin typeface="Plus Jakarta Sans"/>
              </a:rPr>
              <a:t>🔗   </a:t>
            </a:r>
            <a:r>
              <a:rPr sz="2000" b="0" i="0">
                <a:solidFill>
                  <a:srgbClr val="DDDDDD"/>
                </a:solidFill>
                <a:latin typeface="Plus Jakarta Sans"/>
              </a:rPr>
              <a:t>Enlazo conceptos entre 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187952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A2A"/>
                </a:solidFill>
                <a:latin typeface="JetBrains Mono"/>
              </a:rPr>
              <a:t>5.  </a:t>
            </a:r>
            <a:r>
              <a:rPr sz="1800" b="0" i="0">
                <a:solidFill>
                  <a:srgbClr val="FF6A2A"/>
                </a:solidFill>
                <a:latin typeface="Plus Jakarta Sans"/>
              </a:rPr>
              <a:t>↻   </a:t>
            </a:r>
            <a:r>
              <a:rPr sz="2000" b="0" i="0">
                <a:solidFill>
                  <a:srgbClr val="DDDDDD"/>
                </a:solidFill>
                <a:latin typeface="Plus Jakarta Sans"/>
              </a:rPr>
              <a:t>Vuelvo días después a repasar y profundizar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989320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FFB800"/>
                </a:solidFill>
                <a:latin typeface="Plus Jakarta Sans"/>
              </a:rPr>
              <a:t>Esto no es estudiar con IA. Es aplicar ciencia del aprendizaje, con IA acelerándolo.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22" presetClass="entr" presetSubtype="4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" dur="9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2" presetClass="entr" presetSubtype="8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2" presetClass="entr" presetSubtype="8" fill="hold" grpId="0" nodeType="with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19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2" presetClass="entr" presetSubtype="8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22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2" presetClass="entr" presetSubtype="8" fill="hold" grpId="0" nodeType="with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25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2" presetClass="entr" presetSubtype="8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28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10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14597" y="-323850"/>
            <a:ext cx="4762500" cy="47625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Urbanist"/>
              </a:rPr>
              <a:t>🧪  La ciencia confirma el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6A2A"/>
                </a:solidFill>
                <a:latin typeface="Urbanist"/>
              </a:rPr>
              <a:t>170.000</a:t>
            </a:r>
            <a:r>
              <a:rPr sz="2000" b="0" i="0">
                <a:solidFill>
                  <a:srgbClr val="CCCCCC"/>
                </a:solidFill>
                <a:latin typeface="Plus Jakarta Sans"/>
              </a:rPr>
              <a:t> 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BBBBBB"/>
                </a:solidFill>
                <a:latin typeface="Plus Jakarta Sans"/>
              </a:rPr>
              <a:t>Meta-análisis (Hattie &amp; Donoghue, 2021) sobre 242 estudios de técnicas de aprendizaje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C0C0D0"/>
                </a:solidFill>
                <a:latin typeface="Plus Jakarta Sans"/>
              </a:rPr>
              <a:t>Las 2 técnicas más efectivas, por encima de todas las demás: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 spc="150">
                <a:solidFill>
                  <a:srgbClr val="FF3B3B"/>
                </a:solidFill>
                <a:latin typeface="Plus Jakarta Sans"/>
              </a:rPr>
              <a:t>✕  NO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1605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Plus Jakarta Sans"/>
              </a:rPr>
              <a:t>•  Releer el PDF 10 veces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6634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Plus Jakarta Sans"/>
              </a:rPr>
              <a:t>•  Subrayar y resaltar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51663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  <a:latin typeface="Plus Jakarta Sans"/>
              </a:rPr>
              <a:t>•  Estudio masivo (cramming)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 spc="150">
                <a:solidFill>
                  <a:srgbClr val="FFB800"/>
                </a:solidFill>
                <a:latin typeface="Plus Jakarta Sans"/>
              </a:rPr>
              <a:t>✓  SÍ FUNCIONA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1605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DDDDD"/>
                </a:solidFill>
                <a:latin typeface="Plus Jakarta Sans"/>
              </a:rPr>
              <a:t>•  Retrieval Practice (práctica de recuperación)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663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DDDDD"/>
                </a:solidFill>
                <a:latin typeface="Plus Jakarta Sans"/>
              </a:rPr>
              <a:t>•  Spaced Repetition (repaso espaciado)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166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DDDDDD"/>
                </a:solidFill>
                <a:latin typeface="Plus Jakarta Sans"/>
              </a:rPr>
              <a:t>•  Volver al tema días después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2" presetID="10" presetClass="entr" presetSubtype="0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7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5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7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8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7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grpId="0" nodeType="with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7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7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38347" y="571500"/>
            <a:ext cx="5715000" cy="5715000"/>
          </a:xfrm>
          <a:prstGeom prst="ellipse">
            <a:avLst/>
          </a:prstGeom>
          <a:solidFill>
            <a:srgbClr val="FF6A2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5400" b="1" i="0">
                <a:solidFill>
                  <a:srgbClr val="FFFFFF"/>
                </a:solidFill>
                <a:latin typeface="Urbanist"/>
              </a:rPr>
              <a:t>No tengan miedo a </a:t>
            </a:r>
            <a:r>
              <a:rPr sz="5400" b="1" i="0">
                <a:solidFill>
                  <a:srgbClr val="FF6A2A"/>
                </a:solidFill>
                <a:latin typeface="Urbanist"/>
              </a:rPr>
              <a:t>preguntar</a:t>
            </a:r>
            <a:r>
              <a:rPr sz="5400" b="1" i="0">
                <a:solidFill>
                  <a:srgbClr val="FFFFFF"/>
                </a:solidFill>
                <a:latin typeface="Urbanist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1447" y="3749039"/>
            <a:ext cx="1828800" cy="25400"/>
          </a:xfrm>
          <a:prstGeom prst="roundRect">
            <a:avLst/>
          </a:prstGeom>
          <a:solidFill>
            <a:srgbClr val="FF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2062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i="0">
                <a:solidFill>
                  <a:srgbClr val="C0C0D0"/>
                </a:solidFill>
                <a:latin typeface="Plus Jakarta Sans"/>
              </a:rPr>
              <a:t>Preocúpense solo de entender </a:t>
            </a:r>
            <a:r>
              <a:rPr sz="2600" b="1" i="0">
                <a:solidFill>
                  <a:srgbClr val="FFFFFF"/>
                </a:solidFill>
                <a:latin typeface="Plus Jakarta Sans"/>
              </a:rPr>
              <a:t>todo a la perfección</a:t>
            </a:r>
            <a:r>
              <a:rPr sz="2600" b="0" i="0">
                <a:solidFill>
                  <a:srgbClr val="C0C0D0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11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6019601" y="2552700"/>
            <a:ext cx="3810000" cy="3810000"/>
          </a:xfrm>
          <a:prstGeom prst="ellipse">
            <a:avLst/>
          </a:prstGeom>
          <a:solidFill>
            <a:srgbClr val="FF6A2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2495428" y="361950"/>
            <a:ext cx="4762500" cy="47625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>
                <a:solidFill>
                  <a:srgbClr val="CCCCCC"/>
                </a:solidFill>
                <a:latin typeface="Plus Jakarta Sans"/>
              </a:rPr>
              <a:t>La IA no los va a hacer más inteligentes sola.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Urbanist"/>
              </a:rPr>
              <a:t>Ustedes se vuelven más inteligentes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6A2A"/>
                </a:solidFill>
                <a:latin typeface="Plus Jakarta Sans"/>
              </a:rPr>
              <a:t>preguntando bien,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8620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6A2A"/>
                </a:solidFill>
                <a:latin typeface="Plus Jakarta Sans"/>
              </a:rPr>
              <a:t>anotando bien,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6A2A"/>
                </a:solidFill>
                <a:latin typeface="Plus Jakarta Sans"/>
              </a:rPr>
              <a:t>y volviendo a profundizar.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22" presetClass="entr" presetSubtype="4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" dur="10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2" presetClass="entr" presetSubtype="8" fill="hold" grpId="0" nodeType="with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19" dur="8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2" presetClass="entr" presetSubtype="8" fill="hold" grpId="0" nodeType="with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22" dur="8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2" presetClass="entr" presetSubtype="8" fill="hold" grpId="0" nodeType="withEffect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lide(fromLeft)">
                                <p:cBhvr>
                                  <p:cTn id="25" dur="8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62097" y="95250"/>
            <a:ext cx="6667500" cy="6667500"/>
          </a:xfrm>
          <a:prstGeom prst="ellipse">
            <a:avLst/>
          </a:prstGeom>
          <a:solidFill>
            <a:srgbClr val="FF6A2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FF6A2A"/>
                </a:solidFill>
                <a:latin typeface="Plus Jakarta Sans"/>
              </a:rPr>
              <a:t>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 i="0">
                <a:solidFill>
                  <a:srgbClr val="FFFFFF"/>
                </a:solidFill>
                <a:latin typeface="Urbanist"/>
              </a:rPr>
              <a:t>“Esta tecnología es un </a:t>
            </a:r>
            <a:r>
              <a:rPr sz="4400" b="1" i="0">
                <a:solidFill>
                  <a:srgbClr val="FF6A2A"/>
                </a:solidFill>
                <a:latin typeface="Urbanist"/>
              </a:rPr>
              <a:t>amplificador</a:t>
            </a:r>
            <a:r>
              <a:rPr sz="4400" b="1" i="0">
                <a:solidFill>
                  <a:srgbClr val="FFFFFF"/>
                </a:solidFill>
                <a:latin typeface="Urbanist"/>
              </a:rPr>
              <a:t>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Plus Jakarta Sans"/>
              </a:rPr>
              <a:t>Al que piensa, lo hace pensar 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E0E0E8"/>
                </a:solidFill>
                <a:latin typeface="Plus Jakarta Sans"/>
              </a:rPr>
              <a:t>Al que delega todo sin chequear, lo hace cada vez más dependiente.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10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11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1752508" y="2895600"/>
            <a:ext cx="3810000" cy="3810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3714597" y="361950"/>
            <a:ext cx="4762500" cy="4762500"/>
          </a:xfrm>
          <a:prstGeom prst="ellipse">
            <a:avLst/>
          </a:prstGeom>
          <a:solidFill>
            <a:srgbClr val="FF6A2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 i="0" spc="50">
                <a:solidFill>
                  <a:srgbClr val="CCCCCC"/>
                </a:solidFill>
                <a:latin typeface="Plus Jakarta Sans"/>
              </a:rPr>
              <a:t>Todos buscamos lo mismo.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Urbanist"/>
              </a:rPr>
              <a:t>Que salgan de acá</a:t>
            </a:r>
          </a:p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Urbanist"/>
              </a:rPr>
              <a:t>siendo </a:t>
            </a:r>
            <a:r>
              <a:rPr sz="4200" b="1" i="0">
                <a:solidFill>
                  <a:srgbClr val="FF6A2A"/>
                </a:solidFill>
                <a:latin typeface="Urbanist"/>
              </a:rPr>
              <a:t>mejores profesionales</a:t>
            </a:r>
          </a:p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Urbanist"/>
              </a:rPr>
              <a:t>de los que entraron.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949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FF6A2A"/>
                </a:solidFill>
                <a:latin typeface="Plus Jakarta Sans"/>
              </a:rPr>
              <a:t>● ● ● ● 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22" presetClass="entr" presetSubtype="4" fill="hold" grpId="0" nodeType="with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" dur="11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533339" y="152400"/>
            <a:ext cx="3810000" cy="3810000"/>
          </a:xfrm>
          <a:prstGeom prst="ellipse">
            <a:avLst/>
          </a:prstGeom>
          <a:solidFill>
            <a:srgbClr val="FFB800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3238347" y="571500"/>
            <a:ext cx="5715000" cy="5715000"/>
          </a:xfrm>
          <a:prstGeom prst="ellipse">
            <a:avLst/>
          </a:prstGeom>
          <a:solidFill>
            <a:srgbClr val="FF6A2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Urbanist"/>
              </a:rPr>
              <a:t>Muchas </a:t>
            </a:r>
            <a:r>
              <a:rPr sz="6000" b="1" i="0">
                <a:solidFill>
                  <a:srgbClr val="FF6A2A"/>
                </a:solidFill>
                <a:latin typeface="Urbanist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Plus Jakarta Sans"/>
              </a:rPr>
              <a:t>Mauricio Medina</a:t>
            </a:r>
          </a:p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CCCCCC"/>
                </a:solidFill>
                <a:latin typeface="Plus Jakarta Sans"/>
              </a:rPr>
              <a:t>Desarrollador · CuyoConnect</a:t>
            </a:r>
          </a:p>
          <a:p>
            <a:pPr algn="ctr"/>
            <a:r>
              <a:rPr sz="1500" b="0" i="0">
                <a:solidFill>
                  <a:srgbClr val="CCCCCC"/>
                </a:solidFill>
                <a:latin typeface="Plus Jakarta Sans"/>
              </a:rPr>
              <a:t>📍 Mendoza, Argentina</a:t>
            </a:r>
          </a:p>
        </p:txBody>
      </p:sp>
      <p:pic>
        <p:nvPicPr>
          <p:cNvPr id="6" name="Picture 5" descr="qrIgMau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3200400"/>
            <a:ext cx="2286000" cy="2286000"/>
          </a:xfrm>
          <a:prstGeom prst="rect">
            <a:avLst/>
          </a:prstGeom>
          <a:prstGeom prst="roundRect">
            <a:avLst>
              <a:gd name="adj" fmla="val 800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6A2A"/>
                </a:solidFill>
                <a:latin typeface="Plus Jakarta Sans"/>
              </a:rPr>
              <a:t>@  </a:t>
            </a:r>
            <a:r>
              <a:rPr sz="2600" b="1" i="0" spc="50">
                <a:solidFill>
                  <a:srgbClr val="FFFFFF"/>
                </a:solidFill>
                <a:latin typeface="Plus Jakarta Sans"/>
              </a:rPr>
              <a:t>mauri.h.m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with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with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8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